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2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3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Median desktop page weight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Median desktop page weight</c:v>
                </c:pt>
              </c:strCache>
            </c:strRef>
          </c:tx>
          <c:spPr>
            <a:solidFill>
              <a:srgbClr val="2B211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000" u="none">
                    <a:solidFill>
                      <a:srgbClr val="0F17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B211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B2118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B2118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2B2118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B45309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2016</c:v>
                  </c:pt>
                  <c:pt idx="1">
                    <c:v>2018</c:v>
                  </c:pt>
                  <c:pt idx="2">
                    <c:v>2020</c:v>
                  </c:pt>
                  <c:pt idx="3">
                    <c:v>2022</c:v>
                  </c:pt>
                  <c:pt idx="4">
                    <c:v>2024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1.6</c:v>
                </c:pt>
                <c:pt idx="1">
                  <c:v>1.9</c:v>
                </c:pt>
                <c:pt idx="2">
                  <c:v>2.1</c:v>
                </c:pt>
                <c:pt idx="3">
                  <c:v>2.3</c:v>
                </c:pt>
                <c:pt idx="4">
                  <c:v>2.4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000" u="none">
                  <a:solidFill>
                    <a:srgbClr val="0F172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Median desktop page weight, by year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Median desktop page weight, by year</c:v>
                </c:pt>
              </c:strCache>
            </c:strRef>
          </c:tx>
          <c:spPr>
            <a:solidFill>
              <a:srgbClr val="2B211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000" u="none">
                    <a:solidFill>
                      <a:srgbClr val="0F17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B211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B2118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B2118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2B2118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2B2118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2B2118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2B2118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2B2118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B45309"/>
              </a:solidFill>
              <a:effectLst/>
            </c:spPr>
          </c:dPt>
          <c:cat>
            <c:multiLvlStrRef>
              <c:f>Sheet1!$A$2:$A$10</c:f>
              <c:multiLvlStrCache>
                <c:ptCount val="9"/>
                <c:lvl>
                  <c:pt idx="0">
                    <c:v>2016</c:v>
                  </c:pt>
                  <c:pt idx="1">
                    <c:v>2017</c:v>
                  </c:pt>
                  <c:pt idx="2">
                    <c:v>2018</c:v>
                  </c:pt>
                  <c:pt idx="3">
                    <c:v>2019</c:v>
                  </c:pt>
                  <c:pt idx="4">
                    <c:v>2020</c:v>
                  </c:pt>
                  <c:pt idx="5">
                    <c:v>2021</c:v>
                  </c:pt>
                  <c:pt idx="6">
                    <c:v>2022</c:v>
                  </c:pt>
                  <c:pt idx="7">
                    <c:v>2023</c:v>
                  </c:pt>
                  <c:pt idx="8">
                    <c:v>2024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1.6</c:v>
                </c:pt>
                <c:pt idx="1">
                  <c:v>1.7</c:v>
                </c:pt>
                <c:pt idx="2">
                  <c:v>1.9</c:v>
                </c:pt>
                <c:pt idx="3">
                  <c:v>2</c:v>
                </c:pt>
                <c:pt idx="4">
                  <c:v>2.1</c:v>
                </c:pt>
                <c:pt idx="5">
                  <c:v>2.2</c:v>
                </c:pt>
                <c:pt idx="6">
                  <c:v>2.3</c:v>
                </c:pt>
                <c:pt idx="7">
                  <c:v>2.4</c:v>
                </c:pt>
                <c:pt idx="8">
                  <c:v>2.4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000" u="none">
                  <a:solidFill>
                    <a:srgbClr val="0F172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Share of median page weight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Share of median page weight</c:v>
                </c:pt>
              </c:strCache>
            </c:strRef>
          </c:tx>
          <c:spPr>
            <a:solidFill>
              <a:srgbClr val="B4530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000" u="none">
                    <a:solidFill>
                      <a:srgbClr val="0F17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B45309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B2118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B2118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2B2118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2B2118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Images</c:v>
                  </c:pt>
                  <c:pt idx="1">
                    <c:v>JavaScript</c:v>
                  </c:pt>
                  <c:pt idx="2">
                    <c:v>Fonts</c:v>
                  </c:pt>
                  <c:pt idx="3">
                    <c:v>CSS</c:v>
                  </c:pt>
                  <c:pt idx="4">
                    <c:v>Video &amp; other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50</c:v>
                </c:pt>
                <c:pt idx="1">
                  <c:v>25</c:v>
                </c:pt>
                <c:pt idx="2">
                  <c:v>7</c:v>
                </c:pt>
                <c:pt idx="3">
                  <c:v>4</c:v>
                </c:pt>
                <c:pt idx="4">
                  <c:v>14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000" u="none">
                  <a:solidFill>
                    <a:srgbClr val="0F172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the physical reality behind every page load: bytes, networks, energy, and attention. The median page is not a small file — it is a 2.4 MB download that has to happen before a single sentence is readable.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number frames the whole talk. Everything that follows is a consequence of this number: network cost, device energy, rendering time, and cognitive load.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Nobody adds 'more megabytes' to their backlog. Weight accretes one dependency, one hero image, one tracking script at a time. This is why the fix must be a measurable budget, not a series of individual decisions.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at the two bars that matter. Images are a delivery problem; JavaScript is a delivery plus execution problem. Fonts and CSS are small but block rendering, which makes them feel expensive out of proportion to their bytes.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performance budget framework, popularized by Tim Kadlec and Google's Web Fundamentals, is the operational heart of the talk. Without a number, performance is a vibe; with a number, it is an engineering constraint.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comparison is deliberately about culture, not intelligence. Both teams contain the same quality of engineers. The budget team simply has a definition of done that includes a number.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End with a specific, testable action. The 'one public page, cut 40%' framing gives a concrete first move that produces a measurable number by the end of a single sprint.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87680" y="487680"/>
            <a:ext cx="6492240" cy="632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2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PERFORMANCE · A DATA STORY</a:t>
            </a:r>
            <a:endParaRPr lang="en-US" sz="720" dirty="0"/>
          </a:p>
        </p:txBody>
      </p:sp>
      <p:sp>
        <p:nvSpPr>
          <p:cNvPr id="4" name="Text 1"/>
          <p:cNvSpPr/>
          <p:nvPr/>
        </p:nvSpPr>
        <p:spPr>
          <a:xfrm>
            <a:off x="487680" y="1242060"/>
            <a:ext cx="6492240" cy="2133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147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page you ship has a weight.</a:t>
            </a:r>
            <a:endParaRPr lang="en-US" sz="2147" dirty="0"/>
          </a:p>
        </p:txBody>
      </p:sp>
      <p:sp>
        <p:nvSpPr>
          <p:cNvPr id="5" name="Text 2"/>
          <p:cNvSpPr/>
          <p:nvPr/>
        </p:nvSpPr>
        <p:spPr>
          <a:xfrm>
            <a:off x="487680" y="3489960"/>
            <a:ext cx="6492240" cy="1379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84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byte you ship travels over a network, costs energy to serve and render, and competes with your user's attention. This talk is about one number that controls all of it: the median page weight.</a:t>
            </a:r>
            <a:endParaRPr lang="en-US" sz="840" dirty="0"/>
          </a:p>
        </p:txBody>
      </p:sp>
      <p:sp>
        <p:nvSpPr>
          <p:cNvPr id="6" name="Text 3"/>
          <p:cNvSpPr/>
          <p:nvPr/>
        </p:nvSpPr>
        <p:spPr>
          <a:xfrm>
            <a:off x="487680" y="4991100"/>
            <a:ext cx="6492240" cy="632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8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practical guide to measuring, budgeting, and shipping lighter pages.</a:t>
            </a:r>
            <a:endParaRPr lang="en-US" sz="78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8046720" y="1242060"/>
          <a:ext cx="3657600" cy="36347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87680" y="487680"/>
            <a:ext cx="11216640" cy="632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2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TOTAL PAGE WEIGHT, DESKTOP</a:t>
            </a:r>
            <a:endParaRPr lang="en-US" sz="720" dirty="0"/>
          </a:p>
        </p:txBody>
      </p:sp>
      <p:sp>
        <p:nvSpPr>
          <p:cNvPr id="4" name="Text 1"/>
          <p:cNvSpPr/>
          <p:nvPr/>
        </p:nvSpPr>
        <p:spPr>
          <a:xfrm>
            <a:off x="487680" y="1242060"/>
            <a:ext cx="649224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601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2.4 MB</a:t>
            </a:r>
            <a:endParaRPr lang="en-US" sz="4601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4601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desktop page weight in 2024</a:t>
            </a:r>
            <a:endParaRPr lang="en-US" sz="4601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4601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+50% since 2016</a:t>
            </a:r>
            <a:endParaRPr lang="en-US" sz="4601" dirty="0"/>
          </a:p>
        </p:txBody>
      </p:sp>
      <p:sp>
        <p:nvSpPr>
          <p:cNvPr id="5" name="Text 2"/>
          <p:cNvSpPr/>
          <p:nvPr/>
        </p:nvSpPr>
        <p:spPr>
          <a:xfrm>
            <a:off x="7101840" y="1988820"/>
            <a:ext cx="4602480" cy="1021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4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Half of it is images, a quarter is JavaScript.</a:t>
            </a:r>
            <a:endParaRPr lang="en-US" sz="1440" dirty="0"/>
          </a:p>
        </p:txBody>
      </p:sp>
      <p:sp>
        <p:nvSpPr>
          <p:cNvPr id="6" name="Text 3"/>
          <p:cNvSpPr/>
          <p:nvPr/>
        </p:nvSpPr>
        <p:spPr>
          <a:xfrm>
            <a:off x="7101840" y="3101340"/>
            <a:ext cx="4602480" cy="1021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84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Images and JavaScript together account for roughly three quarters of the median page's transfer size — and most of its energy cost.</a:t>
            </a:r>
            <a:endParaRPr lang="en-US" sz="840" dirty="0"/>
          </a:p>
        </p:txBody>
      </p:sp>
      <p:sp>
        <p:nvSpPr>
          <p:cNvPr id="7" name="Text 4"/>
          <p:cNvSpPr/>
          <p:nvPr/>
        </p:nvSpPr>
        <p:spPr>
          <a:xfrm>
            <a:off x="487680" y="5745480"/>
            <a:ext cx="11216640" cy="632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8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 Archive · Web Almanac, median desktop page weight, 2016–2024 (approximate).</a:t>
            </a:r>
            <a:endParaRPr lang="en-US" sz="78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87680" y="487680"/>
            <a:ext cx="11216640" cy="632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2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YEARS OF TREND</a:t>
            </a:r>
            <a:endParaRPr lang="en-US" sz="720" dirty="0"/>
          </a:p>
        </p:txBody>
      </p:sp>
      <p:sp>
        <p:nvSpPr>
          <p:cNvPr id="4" name="Text 1"/>
          <p:cNvSpPr/>
          <p:nvPr/>
        </p:nvSpPr>
        <p:spPr>
          <a:xfrm>
            <a:off x="487680" y="1242060"/>
            <a:ext cx="11216640" cy="632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312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Pages did not get heavier on purpose.</a:t>
            </a:r>
            <a:endParaRPr lang="en-US" sz="312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87680" y="1988820"/>
          <a:ext cx="8382000" cy="36347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2"/>
          <p:cNvSpPr/>
          <p:nvPr/>
        </p:nvSpPr>
        <p:spPr>
          <a:xfrm>
            <a:off x="8991600" y="1988820"/>
            <a:ext cx="2712720" cy="2133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40" i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single team made this happen. It is the aggregate of a thousand small, individually reasonable additions.</a:t>
            </a:r>
            <a:endParaRPr lang="en-US" sz="840" dirty="0"/>
          </a:p>
        </p:txBody>
      </p:sp>
      <p:sp>
        <p:nvSpPr>
          <p:cNvPr id="7" name="Text 3"/>
          <p:cNvSpPr/>
          <p:nvPr/>
        </p:nvSpPr>
        <p:spPr>
          <a:xfrm>
            <a:off x="8991600" y="4244340"/>
            <a:ext cx="2712720" cy="1379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6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 Archive, median desktop page weight by year (approximate).</a:t>
            </a:r>
            <a:endParaRPr lang="en-US" sz="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87680" y="487680"/>
            <a:ext cx="11216640" cy="632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2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ANATOMY OF A MEDIAN PAGE</a:t>
            </a:r>
            <a:endParaRPr lang="en-US" sz="720" dirty="0"/>
          </a:p>
        </p:txBody>
      </p:sp>
      <p:sp>
        <p:nvSpPr>
          <p:cNvPr id="4" name="Text 1"/>
          <p:cNvSpPr/>
          <p:nvPr/>
        </p:nvSpPr>
        <p:spPr>
          <a:xfrm>
            <a:off x="487680" y="1242060"/>
            <a:ext cx="11216640" cy="632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312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Images and JavaScript carry most of the cost.</a:t>
            </a:r>
            <a:endParaRPr lang="en-US" sz="312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87680" y="1988820"/>
          <a:ext cx="6492240" cy="36347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2"/>
          <p:cNvSpPr/>
          <p:nvPr/>
        </p:nvSpPr>
        <p:spPr>
          <a:xfrm>
            <a:off x="7101840" y="1988820"/>
            <a:ext cx="4602480" cy="3634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84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Images dominate bytes because most are shipped larger than the rendered size.</a:t>
            </a:r>
            <a:endParaRPr lang="en-US" sz="840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84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JavaScript adds weight twice: download time, then parse and execute time.</a:t>
            </a:r>
            <a:endParaRPr lang="en-US" sz="840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84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Fonts and CSS feel small, but they block first paint.</a:t>
            </a:r>
            <a:endParaRPr lang="en-US" sz="84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87680" y="487680"/>
            <a:ext cx="11216640" cy="632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2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WORKFLOW</a:t>
            </a:r>
            <a:endParaRPr lang="en-US" sz="720" dirty="0"/>
          </a:p>
        </p:txBody>
      </p:sp>
      <p:sp>
        <p:nvSpPr>
          <p:cNvPr id="4" name="Text 1"/>
          <p:cNvSpPr/>
          <p:nvPr/>
        </p:nvSpPr>
        <p:spPr>
          <a:xfrm>
            <a:off x="487680" y="1242060"/>
            <a:ext cx="11216640" cy="632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312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Budget first, optimize later.</a:t>
            </a:r>
            <a:endParaRPr lang="en-US" sz="3120" dirty="0"/>
          </a:p>
        </p:txBody>
      </p:sp>
      <p:sp>
        <p:nvSpPr>
          <p:cNvPr id="5" name="Text 2"/>
          <p:cNvSpPr/>
          <p:nvPr/>
        </p:nvSpPr>
        <p:spPr>
          <a:xfrm>
            <a:off x="487680" y="1988820"/>
            <a:ext cx="2145792" cy="2880360"/>
          </a:xfrm>
          <a:prstGeom prst="roundRect">
            <a:avLst/>
          </a:prstGeom>
          <a:solidFill>
            <a:srgbClr val="2B2118"/>
          </a:solidFill>
          <a:ln w="12700">
            <a:solidFill>
              <a:srgbClr val="2B2118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AF3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AF3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page weight, image bytes, and JS on a real device.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2633472" y="3360420"/>
            <a:ext cx="121920" cy="137160"/>
          </a:xfrm>
          <a:prstGeom prst="rightArrow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755392" y="1988820"/>
            <a:ext cx="2145792" cy="2880360"/>
          </a:xfrm>
          <a:prstGeom prst="roundRect">
            <a:avLst/>
          </a:prstGeom>
          <a:solidFill>
            <a:srgbClr val="2B2118"/>
          </a:solidFill>
          <a:ln w="12700">
            <a:solidFill>
              <a:srgbClr val="2B2118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AF3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the number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AF3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Pick a budget: e.g. 1.5 MB total, 500 KB JavaScript.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4901184" y="3360420"/>
            <a:ext cx="121920" cy="137160"/>
          </a:xfrm>
          <a:prstGeom prst="rightArrow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023104" y="1988820"/>
            <a:ext cx="2145792" cy="2880360"/>
          </a:xfrm>
          <a:prstGeom prst="roundRect">
            <a:avLst/>
          </a:prstGeom>
          <a:solidFill>
            <a:srgbClr val="2B2118"/>
          </a:solidFill>
          <a:ln w="12700">
            <a:solidFill>
              <a:srgbClr val="2B2118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AF3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Ship lean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AF3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Treat budget overruns like test failures, not suggestions.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7168896" y="3360420"/>
            <a:ext cx="121920" cy="137160"/>
          </a:xfrm>
          <a:prstGeom prst="rightArrow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290816" y="1988820"/>
            <a:ext cx="2145792" cy="2880360"/>
          </a:xfrm>
          <a:prstGeom prst="roundRect">
            <a:avLst/>
          </a:prstGeom>
          <a:solidFill>
            <a:srgbClr val="2B2118"/>
          </a:solidFill>
          <a:ln w="12700">
            <a:solidFill>
              <a:srgbClr val="2B2118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AF3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 in CI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AF3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 the build when the budget is exceeded.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9436608" y="3360420"/>
            <a:ext cx="121920" cy="137160"/>
          </a:xfrm>
          <a:prstGeom prst="rightArrow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558528" y="1988820"/>
            <a:ext cx="2145792" cy="2880360"/>
          </a:xfrm>
          <a:prstGeom prst="roundRect">
            <a:avLst/>
          </a:prstGeom>
          <a:solidFill>
            <a:srgbClr val="2B2118"/>
          </a:solidFill>
          <a:ln w="12700">
            <a:solidFill>
              <a:srgbClr val="2B2118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AF3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Repeat monthly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AF3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Re-baseline against a real device every month.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432560" y="4991100"/>
            <a:ext cx="9326880" cy="632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140" b="1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budget turns an aspiration ('be faster') into a measurable, enforceable number.</a:t>
            </a:r>
            <a:endParaRPr lang="en-US" sz="114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87680" y="487680"/>
            <a:ext cx="11216640" cy="632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2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CULTURES, SAME CODEBASE</a:t>
            </a:r>
            <a:endParaRPr lang="en-US" sz="720" dirty="0"/>
          </a:p>
        </p:txBody>
      </p:sp>
      <p:sp>
        <p:nvSpPr>
          <p:cNvPr id="4" name="Text 1"/>
          <p:cNvSpPr/>
          <p:nvPr/>
        </p:nvSpPr>
        <p:spPr>
          <a:xfrm>
            <a:off x="487680" y="1242060"/>
            <a:ext cx="11216640" cy="632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312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Budget teams ship a different web.</a:t>
            </a:r>
            <a:endParaRPr lang="en-US" sz="3120" dirty="0"/>
          </a:p>
        </p:txBody>
      </p:sp>
      <p:sp>
        <p:nvSpPr>
          <p:cNvPr id="5" name="Text 2"/>
          <p:cNvSpPr/>
          <p:nvPr/>
        </p:nvSpPr>
        <p:spPr>
          <a:xfrm>
            <a:off x="487680" y="1988820"/>
            <a:ext cx="4602480" cy="1394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84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Adds images in AVIF/WebP, sized to layout.</a:t>
            </a:r>
            <a:endParaRPr lang="en-US" sz="840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84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Challenges new JavaScript with a review.</a:t>
            </a:r>
            <a:endParaRPr lang="en-US" sz="840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84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Treats the budget as a release gate.</a:t>
            </a:r>
            <a:endParaRPr lang="en-US" sz="840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84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Ships smaller bundles and fewer requests.</a:t>
            </a:r>
            <a:endParaRPr lang="en-US" sz="840" dirty="0"/>
          </a:p>
        </p:txBody>
      </p:sp>
      <p:sp>
        <p:nvSpPr>
          <p:cNvPr id="6" name="Text 3"/>
          <p:cNvSpPr/>
          <p:nvPr/>
        </p:nvSpPr>
        <p:spPr>
          <a:xfrm>
            <a:off x="7101840" y="1988820"/>
            <a:ext cx="4602480" cy="1394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84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Adds whatever the design produces.</a:t>
            </a:r>
            <a:endParaRPr lang="en-US" sz="840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84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Ships original-resolution assets.</a:t>
            </a:r>
            <a:endParaRPr lang="en-US" sz="840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84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Optimizes 'when there is time'.</a:t>
            </a:r>
            <a:endParaRPr lang="en-US" sz="840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84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Discovers weight after launch.</a:t>
            </a:r>
            <a:endParaRPr lang="en-US" sz="840" dirty="0"/>
          </a:p>
        </p:txBody>
      </p:sp>
      <p:sp>
        <p:nvSpPr>
          <p:cNvPr id="7" name="Text 4"/>
          <p:cNvSpPr/>
          <p:nvPr/>
        </p:nvSpPr>
        <p:spPr>
          <a:xfrm>
            <a:off x="487680" y="3474720"/>
            <a:ext cx="4602480" cy="1394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8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Budget-first team</a:t>
            </a:r>
            <a:endParaRPr lang="en-US" sz="780" dirty="0"/>
          </a:p>
        </p:txBody>
      </p:sp>
      <p:sp>
        <p:nvSpPr>
          <p:cNvPr id="8" name="Text 5"/>
          <p:cNvSpPr/>
          <p:nvPr/>
        </p:nvSpPr>
        <p:spPr>
          <a:xfrm>
            <a:off x="7101840" y="3474720"/>
            <a:ext cx="4602480" cy="1394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8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Business-as-usual team</a:t>
            </a:r>
            <a:endParaRPr lang="en-US" sz="780" dirty="0"/>
          </a:p>
        </p:txBody>
      </p:sp>
      <p:sp>
        <p:nvSpPr>
          <p:cNvPr id="9" name="Text 6"/>
          <p:cNvSpPr/>
          <p:nvPr/>
        </p:nvSpPr>
        <p:spPr>
          <a:xfrm>
            <a:off x="487680" y="4991100"/>
            <a:ext cx="11216640" cy="632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140" b="1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difference is not skill. It is a decision about when a page is 'done'.</a:t>
            </a:r>
            <a:endParaRPr lang="en-US" sz="114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87680" y="487680"/>
            <a:ext cx="11216640" cy="632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2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NEXT ACTION</a:t>
            </a:r>
            <a:endParaRPr lang="en-US" sz="720" dirty="0"/>
          </a:p>
        </p:txBody>
      </p:sp>
      <p:sp>
        <p:nvSpPr>
          <p:cNvPr id="4" name="Text 1"/>
          <p:cNvSpPr/>
          <p:nvPr/>
        </p:nvSpPr>
        <p:spPr>
          <a:xfrm>
            <a:off x="487680" y="1242060"/>
            <a:ext cx="7437120" cy="1379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459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Ship a page 40% lighter this sprint.</a:t>
            </a:r>
            <a:endParaRPr lang="en-US" sz="2459" dirty="0"/>
          </a:p>
        </p:txBody>
      </p:sp>
      <p:sp>
        <p:nvSpPr>
          <p:cNvPr id="5" name="Text 2"/>
          <p:cNvSpPr/>
          <p:nvPr/>
        </p:nvSpPr>
        <p:spPr>
          <a:xfrm>
            <a:off x="487680" y="2743200"/>
            <a:ext cx="6492240" cy="1379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69" b="1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Pick one public page. Measure it. Cut 40% of its weight by removing, compressing, or deferring what does not help the user. Then set that number as the budget.</a:t>
            </a:r>
            <a:endParaRPr lang="en-US" sz="869" dirty="0"/>
          </a:p>
        </p:txBody>
      </p:sp>
      <p:sp>
        <p:nvSpPr>
          <p:cNvPr id="6" name="Text 3"/>
          <p:cNvSpPr/>
          <p:nvPr/>
        </p:nvSpPr>
        <p:spPr>
          <a:xfrm>
            <a:off x="487680" y="4244340"/>
            <a:ext cx="6492240" cy="632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84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Owner: your team · Do it now · Budget in CI by next sprint</a:t>
            </a:r>
            <a:endParaRPr lang="en-US" sz="840" dirty="0"/>
          </a:p>
        </p:txBody>
      </p:sp>
      <p:sp>
        <p:nvSpPr>
          <p:cNvPr id="7" name="Text 4"/>
          <p:cNvSpPr/>
          <p:nvPr/>
        </p:nvSpPr>
        <p:spPr>
          <a:xfrm>
            <a:off x="487680" y="4991100"/>
            <a:ext cx="6492240" cy="632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613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Sources: HTTP Archive, Web Almanac, Web Performance Budgets.</a:t>
            </a:r>
            <a:endParaRPr lang="en-US" sz="613" dirty="0"/>
          </a:p>
        </p:txBody>
      </p:sp>
      <p:pic>
        <p:nvPicPr>
          <p:cNvPr id="8" name="Image 0" descr="A page of a book photographed at close range, evoking the idea of a lighter, more careful web.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046720" y="1242060"/>
            <a:ext cx="480" cy="47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2026-08-12T19:19:32Z</dcterms:created>
  <dcterms:modified xsi:type="dcterms:W3CDTF">2026-08-12T19:19:32Z</dcterms:modified>
</cp:coreProperties>
</file>