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Median desktop page weight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desktop page weight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2022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5555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Median desktop page weight, by year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desktop page weight, by year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1.6</c:v>
                </c:pt>
                <c:pt idx="1">
                  <c:v>1.7</c:v>
                </c:pt>
                <c:pt idx="2">
                  <c:v>1.9</c:v>
                </c:pt>
                <c:pt idx="3">
                  <c:v>2</c:v>
                </c:pt>
                <c:pt idx="4">
                  <c:v>2.1</c:v>
                </c:pt>
                <c:pt idx="5">
                  <c:v>2.2</c:v>
                </c:pt>
                <c:pt idx="6">
                  <c:v>2.3</c:v>
                </c:pt>
                <c:pt idx="7">
                  <c:v>2.4</c:v>
                </c:pt>
                <c:pt idx="8">
                  <c:v>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5555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Share of median page weight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median page weight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Images</c:v>
                  </c:pt>
                  <c:pt idx="1">
                    <c:v>JavaScript</c:v>
                  </c:pt>
                  <c:pt idx="2">
                    <c:v>Fonts</c:v>
                  </c:pt>
                  <c:pt idx="3">
                    <c:v>CSS</c:v>
                  </c:pt>
                  <c:pt idx="4">
                    <c:v>Video &amp; other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25</c:v>
                </c:pt>
                <c:pt idx="2">
                  <c:v>7</c:v>
                </c:pt>
                <c:pt idx="3">
                  <c:v>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5555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physical reality behind every page load: bytes, networks, energy, and attention. The median page is not a small file — it is a 2.4 MB download that has to happen before a single sentence is readable.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number frames the whole talk. Everything that follows is a consequence of this number: network cost, device energy, rendering time, and cognitive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adds 'more megabytes' to their backlog. Weight accretes one dependency, one hero image, one tracking script at a time. This is why the fix must be a measurable budget, not a series of individual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bars that matter. Images are a delivery problem; JavaScript is a delivery plus execution problem. Fonts and CSS are small but block rendering, which makes them feel expensive out of proportion to their bytes.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performance budget framework, popularized by Tim Kadlec and Google's Web Fundamentals, is the operational heart of the talk. Without a number, performance is a vibe; with a number, it is an engineering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comparison is deliberately about culture, not intelligence. Both teams contain the same quality of engineers. The budget team simply has a definition of done that includes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a specific, testable action. The 'one public page, cut 40%' framing gives a concrete first move that produces a measurable number by the end of a single sprint.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64922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PERFORMANCE · A DATA STORY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649224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47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you ship has a weight.</a:t>
            </a:r>
            <a:endParaRPr lang="en-US" sz="2147" dirty="0"/>
          </a:p>
        </p:txBody>
      </p:sp>
      <p:sp>
        <p:nvSpPr>
          <p:cNvPr id="5" name="Text 2"/>
          <p:cNvSpPr/>
          <p:nvPr/>
        </p:nvSpPr>
        <p:spPr>
          <a:xfrm>
            <a:off x="487680" y="3489960"/>
            <a:ext cx="6492240" cy="137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byte you ship travels over a network, costs energy to serve and render, and competes with your user's attention. This talk is about one number that controls all of it: the median page weight.</a:t>
            </a:r>
            <a:endParaRPr lang="en-US" sz="840" dirty="0"/>
          </a:p>
        </p:txBody>
      </p:sp>
      <p:sp>
        <p:nvSpPr>
          <p:cNvPr id="6" name="Text 3"/>
          <p:cNvSpPr/>
          <p:nvPr/>
        </p:nvSpPr>
        <p:spPr>
          <a:xfrm>
            <a:off x="487680" y="4991100"/>
            <a:ext cx="64922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guide to measuring, budgeting, and shipping lighter pages.</a:t>
            </a:r>
            <a:endParaRPr lang="en-US" sz="78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046720" y="1242060"/>
          <a:ext cx="3657600" cy="36347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TOTAL PAGE WEIGHT, DESKTOP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64922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1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MB</a:t>
            </a:r>
            <a:endParaRPr lang="en-US" sz="4601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1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desktop page weight in 2024</a:t>
            </a:r>
            <a:endParaRPr lang="en-US" sz="4601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1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since 2016</a:t>
            </a:r>
            <a:endParaRPr lang="en-US" sz="4601" dirty="0"/>
          </a:p>
        </p:txBody>
      </p:sp>
      <p:sp>
        <p:nvSpPr>
          <p:cNvPr id="5" name="Text 2"/>
          <p:cNvSpPr/>
          <p:nvPr/>
        </p:nvSpPr>
        <p:spPr>
          <a:xfrm>
            <a:off x="7101840" y="1988820"/>
            <a:ext cx="460248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it is images, a quarter is JavaScript.</a:t>
            </a:r>
            <a:endParaRPr lang="en-US" sz="1440" dirty="0"/>
          </a:p>
        </p:txBody>
      </p:sp>
      <p:sp>
        <p:nvSpPr>
          <p:cNvPr id="6" name="Text 3"/>
          <p:cNvSpPr/>
          <p:nvPr/>
        </p:nvSpPr>
        <p:spPr>
          <a:xfrm>
            <a:off x="7101840" y="3101340"/>
            <a:ext cx="460248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and JavaScript together account for roughly three quarters of the median page's transfer size — and most of its energy cost.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487680" y="57454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8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Archive · Web Almanac, median desktop page weight, 2016–2024 (approximate).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YEARS OF TREND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did not get heavier on purpose.</a:t>
            </a:r>
            <a:endParaRPr lang="en-US" sz="312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87680" y="1988820"/>
          <a:ext cx="8382000" cy="36347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8991600" y="1988820"/>
            <a:ext cx="271272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4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team made this happen. It is the aggregate of a thousand small, individually reasonable additions.</a:t>
            </a:r>
            <a:endParaRPr lang="en-US" sz="840" dirty="0"/>
          </a:p>
        </p:txBody>
      </p:sp>
      <p:sp>
        <p:nvSpPr>
          <p:cNvPr id="7" name="Text 3"/>
          <p:cNvSpPr/>
          <p:nvPr/>
        </p:nvSpPr>
        <p:spPr>
          <a:xfrm>
            <a:off x="8991600" y="4244340"/>
            <a:ext cx="2712720" cy="137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6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Archive, median desktop page weight by year (approximate).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 MEDIAN PAGE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and JavaScript carry most of the cost.</a:t>
            </a:r>
            <a:endParaRPr lang="en-US" sz="312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87680" y="1988820"/>
          <a:ext cx="6492240" cy="36347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101840" y="1988820"/>
            <a:ext cx="4602480" cy="363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Images dominate bytes because most are shipped larger than the rendered size.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adds weight twice: download time, then parse and execute time.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Fonts and CSS feel small, but they block first paint.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first, optimize later.</a:t>
            </a:r>
            <a:endParaRPr lang="en-US" sz="3120" dirty="0"/>
          </a:p>
        </p:txBody>
      </p:sp>
      <p:sp>
        <p:nvSpPr>
          <p:cNvPr id="5" name="Text 2"/>
          <p:cNvSpPr/>
          <p:nvPr/>
        </p:nvSpPr>
        <p:spPr>
          <a:xfrm>
            <a:off x="487680" y="1988820"/>
            <a:ext cx="2145792" cy="2880360"/>
          </a:xfrm>
          <a:prstGeom prst="roundRect">
            <a:avLst/>
          </a:prstGeom>
          <a:solidFill>
            <a:srgbClr val="1A73E8"/>
          </a:solidFill>
          <a:ln w="12700">
            <a:solidFill>
              <a:srgbClr val="1F1F1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page weight, image bytes, and JS on a real device.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2633472" y="3360420"/>
            <a:ext cx="121920" cy="137160"/>
          </a:xfrm>
          <a:prstGeom prst="rightArrow">
            <a:avLst/>
          </a:prstGeom>
          <a:solidFill>
            <a:srgbClr val="3C4043"/>
          </a:solidFill>
          <a:ln w="12700">
            <a:solidFill>
              <a:srgbClr val="3C404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55392" y="1988820"/>
            <a:ext cx="2145792" cy="2880360"/>
          </a:xfrm>
          <a:prstGeom prst="roundRect">
            <a:avLst/>
          </a:prstGeom>
          <a:solidFill>
            <a:srgbClr val="1A73E8"/>
          </a:solidFill>
          <a:ln w="12700">
            <a:solidFill>
              <a:srgbClr val="1F1F1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number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budget: e.g. 1.5 MB total, 500 KB JavaScript.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901184" y="3360420"/>
            <a:ext cx="121920" cy="137160"/>
          </a:xfrm>
          <a:prstGeom prst="rightArrow">
            <a:avLst/>
          </a:prstGeom>
          <a:solidFill>
            <a:srgbClr val="3C4043"/>
          </a:solidFill>
          <a:ln w="12700">
            <a:solidFill>
              <a:srgbClr val="3C40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3104" y="1988820"/>
            <a:ext cx="2145792" cy="2880360"/>
          </a:xfrm>
          <a:prstGeom prst="roundRect">
            <a:avLst/>
          </a:prstGeom>
          <a:solidFill>
            <a:srgbClr val="1A73E8"/>
          </a:solidFill>
          <a:ln w="12700">
            <a:solidFill>
              <a:srgbClr val="1F1F1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lean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budget overruns like test failures, not suggestions.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168896" y="3360420"/>
            <a:ext cx="121920" cy="137160"/>
          </a:xfrm>
          <a:prstGeom prst="rightArrow">
            <a:avLst/>
          </a:prstGeom>
          <a:solidFill>
            <a:srgbClr val="3C4043"/>
          </a:solidFill>
          <a:ln w="12700">
            <a:solidFill>
              <a:srgbClr val="3C40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90816" y="1988820"/>
            <a:ext cx="2145792" cy="2880360"/>
          </a:xfrm>
          <a:prstGeom prst="roundRect">
            <a:avLst/>
          </a:prstGeom>
          <a:solidFill>
            <a:srgbClr val="1A73E8"/>
          </a:solidFill>
          <a:ln w="12700">
            <a:solidFill>
              <a:srgbClr val="1F1F1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in CI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the budget is exceeded.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436608" y="3360420"/>
            <a:ext cx="121920" cy="137160"/>
          </a:xfrm>
          <a:prstGeom prst="rightArrow">
            <a:avLst/>
          </a:prstGeom>
          <a:solidFill>
            <a:srgbClr val="3C4043"/>
          </a:solidFill>
          <a:ln w="12700">
            <a:solidFill>
              <a:srgbClr val="3C404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58528" y="1988820"/>
            <a:ext cx="2145792" cy="2880360"/>
          </a:xfrm>
          <a:prstGeom prst="roundRect">
            <a:avLst/>
          </a:prstGeom>
          <a:solidFill>
            <a:srgbClr val="1A73E8"/>
          </a:solidFill>
          <a:ln w="12700">
            <a:solidFill>
              <a:srgbClr val="1F1F1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monthly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Re-baseline against a real device every month.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432560" y="4991100"/>
            <a:ext cx="9326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40" b="1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budget turns an aspiration ('be faster') into a measurable, enforceable number.</a:t>
            </a:r>
            <a:endParaRPr lang="en-US" sz="11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CULTURES, SAME CODEBASE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teams ship a different web.</a:t>
            </a:r>
            <a:endParaRPr lang="en-US" sz="3120" dirty="0"/>
          </a:p>
        </p:txBody>
      </p:sp>
      <p:sp>
        <p:nvSpPr>
          <p:cNvPr id="5" name="Text 2"/>
          <p:cNvSpPr/>
          <p:nvPr/>
        </p:nvSpPr>
        <p:spPr>
          <a:xfrm>
            <a:off x="487680" y="1988820"/>
            <a:ext cx="460248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Adds images in AVIF/WebP, sized to layout.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Challenges new JavaScript with a review.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the budget as a release gate.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Ships smaller bundles and fewer requests.</a:t>
            </a:r>
            <a:endParaRPr lang="en-US" sz="840" dirty="0"/>
          </a:p>
        </p:txBody>
      </p:sp>
      <p:sp>
        <p:nvSpPr>
          <p:cNvPr id="6" name="Text 3"/>
          <p:cNvSpPr/>
          <p:nvPr/>
        </p:nvSpPr>
        <p:spPr>
          <a:xfrm>
            <a:off x="7101840" y="1988820"/>
            <a:ext cx="460248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Adds whatever the design produces.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Ships original-resolution assets.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Optimizes 'when there is time'.</a:t>
            </a:r>
            <a:endParaRPr lang="en-US" sz="84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Discovers weight after launch.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487680" y="3474720"/>
            <a:ext cx="460248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Budget-first team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7101840" y="3474720"/>
            <a:ext cx="460248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Business-as-usual team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487680" y="499110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40" b="1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is not skill. It is a decision about when a page is 'done'.</a:t>
            </a:r>
            <a:endParaRPr lang="en-US" sz="11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7680" y="487680"/>
            <a:ext cx="112166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NEXT ACTION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487680" y="1242060"/>
            <a:ext cx="7437120" cy="137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59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 page 40% lighter this sprint.</a:t>
            </a:r>
            <a:endParaRPr lang="en-US" sz="2459" dirty="0"/>
          </a:p>
        </p:txBody>
      </p:sp>
      <p:sp>
        <p:nvSpPr>
          <p:cNvPr id="5" name="Text 2"/>
          <p:cNvSpPr/>
          <p:nvPr/>
        </p:nvSpPr>
        <p:spPr>
          <a:xfrm>
            <a:off x="487680" y="2743200"/>
            <a:ext cx="6492240" cy="1379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69" b="1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public page. Measure it. Cut 40% of its weight by removing, compressing, or deferring what does not help the user. Then set that number as the budget.</a:t>
            </a:r>
            <a:endParaRPr lang="en-US" sz="869" dirty="0"/>
          </a:p>
        </p:txBody>
      </p:sp>
      <p:sp>
        <p:nvSpPr>
          <p:cNvPr id="6" name="Text 3"/>
          <p:cNvSpPr/>
          <p:nvPr/>
        </p:nvSpPr>
        <p:spPr>
          <a:xfrm>
            <a:off x="487680" y="4244340"/>
            <a:ext cx="64922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4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your team · Do it now · Budget in CI by next sprint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487680" y="4991100"/>
            <a:ext cx="649224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613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HTTP Archive, Web Almanac, Web Performance Budgets.</a:t>
            </a:r>
            <a:endParaRPr lang="en-US" sz="613" dirty="0"/>
          </a:p>
        </p:txBody>
      </p:sp>
      <p:pic>
        <p:nvPicPr>
          <p:cNvPr id="8" name="Image 0" descr="A page of a book photographed at close range, evoking the idea of a lighter, more careful web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242060"/>
            <a:ext cx="480" cy="4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2026-08-11T17:48:18Z</dcterms:created>
  <dcterms:modified xsi:type="dcterms:W3CDTF">2026-08-11T17:48:18Z</dcterms:modified>
</cp:coreProperties>
</file>